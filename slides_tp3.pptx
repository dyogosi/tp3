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Heurística pura</c:v>
                </c:pt>
              </c:strCache>
            </c:strRef>
          </c:tx>
          <c:spPr>
            <a:ln w="31750">
              <a:solidFill>
                <a:srgbClr val="2A9D8F"/>
              </a:solidFill>
            </a:ln>
          </c:spPr>
          <c:marker>
            <c:symbol val="circle"/>
            <c:size val="8"/>
            <c:spPr>
              <a:solidFill>
                <a:srgbClr val="2A9D8F"/>
              </a:solidFill>
              <a:ln>
                <a:solidFill>
                  <a:srgbClr val="2A9D8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60</c:v>
                </c:pt>
                <c:pt idx="5">
                  <c:v>80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1.774</c:v>
                </c:pt>
                <c:pt idx="5">
                  <c:v>6.936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Exato puro</c:v>
                </c:pt>
              </c:strCache>
            </c:strRef>
          </c:tx>
          <c:spPr>
            <a:ln w="31750">
              <a:solidFill>
                <a:srgbClr val="C1121F"/>
              </a:solidFill>
            </a:ln>
          </c:spPr>
          <c:marker>
            <c:symbol val="circle"/>
            <c:size val="8"/>
            <c:spPr>
              <a:solidFill>
                <a:srgbClr val="C1121F"/>
              </a:solidFill>
              <a:ln>
                <a:solidFill>
                  <a:srgbClr val="C1121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60</c:v>
                </c:pt>
                <c:pt idx="5">
                  <c:v>80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12.063</c:v>
                </c:pt>
                <c:pt idx="5">
                  <c:v>28.848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Exato + warm start</c:v>
                </c:pt>
              </c:strCache>
            </c:strRef>
          </c:tx>
          <c:spPr>
            <a:ln w="31750">
              <a:solidFill>
                <a:srgbClr val="B7791F"/>
              </a:solidFill>
            </a:ln>
          </c:spPr>
          <c:marker>
            <c:symbol val="circle"/>
            <c:size val="8"/>
            <c:spPr>
              <a:solidFill>
                <a:srgbClr val="B7791F"/>
              </a:solidFill>
              <a:ln>
                <a:solidFill>
                  <a:srgbClr val="B7791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60</c:v>
                </c:pt>
                <c:pt idx="5">
                  <c:v>80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1.774</c:v>
                </c:pt>
                <c:pt idx="5">
                  <c:v>6.936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Híbrido (WS + F&amp;O)</c:v>
                </c:pt>
              </c:strCache>
            </c:strRef>
          </c:tx>
          <c:spPr>
            <a:ln w="31750">
              <a:solidFill>
                <a:srgbClr val="1D4E89"/>
              </a:solidFill>
            </a:ln>
          </c:spPr>
          <c:marker>
            <c:symbol val="circle"/>
            <c:size val="8"/>
            <c:spPr>
              <a:solidFill>
                <a:srgbClr val="1D4E89"/>
              </a:solidFill>
              <a:ln>
                <a:solidFill>
                  <a:srgbClr val="1D4E89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60</c:v>
                </c:pt>
                <c:pt idx="5">
                  <c:v>80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1.774</c:v>
                </c:pt>
                <c:pt idx="5">
                  <c:v>6.357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B76"/>
                    </a:solidFill>
                  </a:rPr>
                  <a:t>N (cidades)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>
            <a:solidFill>
              <a:srgbClr val="D5DDE2"/>
            </a:solidFill>
          </a:ln>
        </c:spPr>
        <c:txPr>
          <a:bodyPr/>
          <a:lstStyle/>
          <a:p>
            <a:pPr>
              <a:defRPr sz="1200">
                <a:solidFill>
                  <a:srgbClr val="5B6B7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B76"/>
                    </a:solidFill>
                  </a:rPr>
                  <a:t>Gap (%)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D5DDE2"/>
            </a:solidFill>
          </a:ln>
        </c:spPr>
        <c:txPr>
          <a:bodyPr/>
          <a:lstStyle/>
          <a:p>
            <a:pPr>
              <a:defRPr sz="1200">
                <a:solidFill>
                  <a:srgbClr val="5B6B7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0B2A3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Heurística pura</c:v>
                </c:pt>
              </c:strCache>
            </c:strRef>
          </c:tx>
          <c:spPr>
            <a:ln w="31750">
              <a:solidFill>
                <a:srgbClr val="2A9D8F"/>
              </a:solidFill>
            </a:ln>
          </c:spPr>
          <c:marker>
            <c:symbol val="circle"/>
            <c:size val="8"/>
            <c:spPr>
              <a:solidFill>
                <a:srgbClr val="2A9D8F"/>
              </a:solidFill>
              <a:ln>
                <a:solidFill>
                  <a:srgbClr val="2A9D8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60</c:v>
                </c:pt>
                <c:pt idx="5">
                  <c:v>80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0.008</c:v>
                </c:pt>
                <c:pt idx="1">
                  <c:v>0.06</c:v>
                </c:pt>
                <c:pt idx="2">
                  <c:v>0.2</c:v>
                </c:pt>
                <c:pt idx="3">
                  <c:v>0.342</c:v>
                </c:pt>
                <c:pt idx="4">
                  <c:v>0.632</c:v>
                </c:pt>
                <c:pt idx="5">
                  <c:v>1.618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Exato puro</c:v>
                </c:pt>
              </c:strCache>
            </c:strRef>
          </c:tx>
          <c:spPr>
            <a:ln w="31750">
              <a:solidFill>
                <a:srgbClr val="C1121F"/>
              </a:solidFill>
            </a:ln>
          </c:spPr>
          <c:marker>
            <c:symbol val="circle"/>
            <c:size val="8"/>
            <c:spPr>
              <a:solidFill>
                <a:srgbClr val="C1121F"/>
              </a:solidFill>
              <a:ln>
                <a:solidFill>
                  <a:srgbClr val="C1121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60</c:v>
                </c:pt>
                <c:pt idx="5">
                  <c:v>80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0.403</c:v>
                </c:pt>
                <c:pt idx="1">
                  <c:v>2.791</c:v>
                </c:pt>
                <c:pt idx="2">
                  <c:v>35.249</c:v>
                </c:pt>
                <c:pt idx="3">
                  <c:v>60.007</c:v>
                </c:pt>
                <c:pt idx="4">
                  <c:v>120.056</c:v>
                </c:pt>
                <c:pt idx="5">
                  <c:v>120.059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Exato + warm start</c:v>
                </c:pt>
              </c:strCache>
            </c:strRef>
          </c:tx>
          <c:spPr>
            <a:ln w="31750">
              <a:solidFill>
                <a:srgbClr val="B7791F"/>
              </a:solidFill>
            </a:ln>
          </c:spPr>
          <c:marker>
            <c:symbol val="circle"/>
            <c:size val="8"/>
            <c:spPr>
              <a:solidFill>
                <a:srgbClr val="B7791F"/>
              </a:solidFill>
              <a:ln>
                <a:solidFill>
                  <a:srgbClr val="B7791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60</c:v>
                </c:pt>
                <c:pt idx="5">
                  <c:v>80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0.527</c:v>
                </c:pt>
                <c:pt idx="1">
                  <c:v>4.85</c:v>
                </c:pt>
                <c:pt idx="2">
                  <c:v>19.082</c:v>
                </c:pt>
                <c:pt idx="3">
                  <c:v>17.041</c:v>
                </c:pt>
                <c:pt idx="4">
                  <c:v>120.017</c:v>
                </c:pt>
                <c:pt idx="5">
                  <c:v>120.061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Híbrido (WS + F&amp;O)</c:v>
                </c:pt>
              </c:strCache>
            </c:strRef>
          </c:tx>
          <c:spPr>
            <a:ln w="31750">
              <a:solidFill>
                <a:srgbClr val="1D4E89"/>
              </a:solidFill>
            </a:ln>
          </c:spPr>
          <c:marker>
            <c:symbol val="circle"/>
            <c:size val="8"/>
            <c:spPr>
              <a:solidFill>
                <a:srgbClr val="1D4E89"/>
              </a:solidFill>
              <a:ln>
                <a:solidFill>
                  <a:srgbClr val="1D4E89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60</c:v>
                </c:pt>
                <c:pt idx="5">
                  <c:v>80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48.595</c:v>
                </c:pt>
                <c:pt idx="1">
                  <c:v>52.708</c:v>
                </c:pt>
                <c:pt idx="2">
                  <c:v>58.976</c:v>
                </c:pt>
                <c:pt idx="3">
                  <c:v>61.135</c:v>
                </c:pt>
                <c:pt idx="4">
                  <c:v>120.026</c:v>
                </c:pt>
                <c:pt idx="5">
                  <c:v>120.048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B76"/>
                    </a:solidFill>
                  </a:rPr>
                  <a:t>N (cidades)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>
            <a:solidFill>
              <a:srgbClr val="D5DDE2"/>
            </a:solidFill>
          </a:ln>
        </c:spPr>
        <c:txPr>
          <a:bodyPr/>
          <a:lstStyle/>
          <a:p>
            <a:pPr>
              <a:defRPr sz="1200">
                <a:solidFill>
                  <a:srgbClr val="5B6B7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.0"/>
          <c:min val="0.001"/>
        </c:scaling>
        <c:delete val="0"/>
        <c:axPos val="l"/>
        <c:majorGridlines>
          <c:spPr>
            <a:ln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B76"/>
                    </a:solidFill>
                  </a:rPr>
                  <a:t>Tempo até o fim (s)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5DDE2"/>
            </a:solidFill>
          </a:ln>
        </c:spPr>
        <c:txPr>
          <a:bodyPr/>
          <a:lstStyle/>
          <a:p>
            <a:pPr>
              <a:defRPr sz="1200">
                <a:solidFill>
                  <a:srgbClr val="5B6B7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0B2A3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[Cauã · ~0:30] Apresentar o tema: no TP-II resolvemos o TSP com PLI (MTZ) e vimos que o exato estoura o tempo na instância difícil. Neste trabalho combinamos a heurística do TP-I com o exato para tentar empurrar esse limite. Citar os integrantes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[Cauã · ~1:00] Retomar o problema: TSP com MTZ, o mesmo do TP-II. Motivação: o exato prova otimalidade mas não escala; a heurística escala mas não prova nada. Pergunta central: combinar os dois ajuda? Em que tamanho? Mostrar as quatro abordagens que vamos comparar, todas com o mesmo orçamento de tempo (120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[Cauã · ~1:00] Gerador parametrizado por N: pontos uniformes em [0,1000]², distância EUC_2D arredondada, a mesma convenção da TSPLIB do TP-II. Semente documentada: 2026 + N, então qualquer pessoa reproduz. Seis tamanhos, de 10 (instantâneo) a 80 (exato claramente não fecha). Lembrar as fórmulas: variáveis = n² − 1 e restrições = 2n + (n−1)(n−2); em N=80 o modelo já tem 6.399 variáveis.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[Dyogo · ~1:00] A heurística é a do TP-I adaptada para o TSP: constrói uma rota com vizinho mais próximo e melhora com busca local. 2-opt remove duas arestas e reconecta invertendo o trecho; Or-opt move segmentos de 1 a 3 cidades para a melhor posição. Rodamos a partir de 20 cidades iniciais e ficamos com a melhor. Em todos os tamanhos leva menos de 2 segundos. Ela entrega a rota para o híbrido e também é o baseline de comparação.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[Dyogo · ~2:00] Fase 1, warm start: a rota da heurística entra no HiGHS como solução inicial (limite primal). O solver já larga com um bom corte e pode podar nós. Fase 2, fix-and-optimize, 40% do orçamento: sorteamos uma cidade-centro, pegamos as m mais próximas e liberamos só as arestas que tocam esse grupo (ligando ao grupo, aos 8 vizinhos mais próximos ou à rota atual). Todo o resto fica fixado na rota atual e o solver resolve esse sub-problema pequeno. A decisão de projeto é a vizinhança espacial: no TSP euclidiano as melhorias úteis acontecem entre cidades próximas. O tamanho m é adaptativo: começa em 6, cresce em 2 se o sub-problema fecha sem melhora e diminui em 2 se estoura 3 s. Fase 3: B&amp;B completo com o melhor incumbente, o que também nos dá o limite dual e o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[Maycon · ~1:00] Mesmo modelo MTZ do TP-II, agora montado direto no HiGHS 1.15.1 via highspy, porque precisamos de warm start, fixação de variáveis e do limite dual. Uma thread por execução. Orçamento de 120 s por abordagem e por N. Rodamos seis tamanhos em paralelo na mesma máquina. Métrica principal: custo da melhor solução e gap = (custo − melhor limite inferior conhecido) / custo; o limite inferior vem do melhor limite dual entre as abordagens, já que a heurística não tem limite próprio. [Registrar aqui as especificações da máquina: processador, núcleos e RAM.]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[Maycon · ~1:30] Ler a tabela da esquerda para a direita. Até N=40 todas as abordagens chegam ao mesmo custo e o exato prova o ótimo; o que muda é o tempo (N=40: 60 s no exato puro, 17 s com warm start). A partir de N=60 ninguém prova o ótimo. O exato puro termina com gap de 12% em N=60 e 29% em N=80, com rotas bem piores. Heurística e warm start ficam em 1,8% e 6,9%. Em N=80 o híbrido achou 6906 contra 6949, o único ponto onde o fix-and-optimize melhorou algo. Verde = ótimo provado dentro dos 120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[Maycon · ~1:00] Eixo y é o gap em relação ao melhor limite inferior conhecido para cada N. O exato puro (vermelho) cola em zero até N=40 e dispara em N=60 e N=80. As outras três quase se sobrepõem: o ganho vem de ter um bom incumbente. O MTZ tem relaxação fraca, então o limite dual quase não sobe em nenhuma das abordagens; por isso o híbrido melhora a solução mas não consegue fechar o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[Maycon · ~1:00] Escala logarítmica. A heurística (verde) fica abaixo de 2 s em todos os tamanhos. O exato puro cresce exponencialmente e bate o limite de 120 s a partir de N=60. O warm start fecha mais rápido em N=30 e N=40. O híbrido com fix-and-optimize gasta pelo menos 40% do orçamento mesmo quando a heurística já é ótima, por isso aparece lá em cima nos tamanhos pequenos: é o custo do fix-and-optimize sem benefício.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[Dyogo · ~2:30] 1) O exato deixa de fechar entre N=40, onde prova o ótimo em cerca de 60 s no limite do orçamento, e N=60, com gap de 12%. 2) O híbrido não empurra o limite de fechar o gap: em N=60 e 80 ninguém prova o ótimo. O ganho é na qualidade da solução: gap de 12% para 1,8% em N=60 e de 29% para 6,4% em N=80. O warm start também acelera a prova quando ela é possível (N=40: 17 s contra 60 s). 3) Até N=60 a heurística pura já iguala o híbrido em menos de 1 s; em N=80 o híbrido é 0,6% melhor. 4) O warm start acelerou; o fix-and-optimize quase não fez diferença, porque a heurística 2-opt + Or-opt já é muito forte em instâncias euclidianas deste tamanho e o sub-MIP em MTZ também sofre com a relaxação fraca. Um F&amp;O mais útil pediria vizinhanças maiores ou uma heurística inicial mais fraca.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[Dyogo e Maycon · ~1:30] Três pontos. Um: o warm start é barato e vale a pena, pois acelera a prova de otimalidade e melhora muito a solução quando o exato estoura o tempo. Dois: o fix-and-optimize só compensa quando a heurística deixa espaço para melhorar; aqui custou 40% do orçamento sem ganho até N=60. Três: o MTZ limita todo o resto, porque o limite dual é fraco. Ressaltar as limitações: uma instância por N, uma execução por abordagem, seis processos em paralelo na mesma máquina e o gap da heurística usando o limite dual de outra abordagem. Fechar convidando às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[Todos · ~2:00] Perguntas. Se perguntarem por que não usamos outra vizinhança: testamos a espacial por fazer sentido para TSP euclidiano; sequências no tour seriam a próxima opção.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FD3B0"/>
                </a:solidFill>
                <a:latin typeface="Calibri"/>
              </a:rPr>
              <a:t>TRABALHO PRÁTICO III  ·  HEURÍSTICA + MÉTODO EXATO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Problema do Caixeiro</a:t>
            </a:r>
          </a:p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Viajante híbrido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CFDDE6"/>
                </a:solidFill>
                <a:latin typeface="Calibri"/>
              </a:rPr>
              <a:t>Warm start e fix-and-optimize sobre a formulação MTZ, resolvida com HiGHS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FDDE6"/>
                </a:solidFill>
                <a:latin typeface="Calibri"/>
              </a:rPr>
              <a:t>Alunos: Cauã Fortes, Dyogo Henrique e Maycon Luiz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O que queremos descobrir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Mesmo problema do TP-II, mesmo orçamento de tempo para todas as abordagens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90881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627632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54480"/>
            <a:ext cx="1451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2A3B"/>
                </a:solidFill>
                <a:latin typeface="Cambria"/>
              </a:rPr>
              <a:t>Heurística pura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157962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Vizinho mais próximo, 2-opt e Or-opt. Rápida, sem prova de otimalidade.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4610" y="1463040"/>
            <a:ext cx="190881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9202" y="1627632"/>
            <a:ext cx="91440" cy="91440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2082" y="1554480"/>
            <a:ext cx="1451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2A3B"/>
                </a:solidFill>
                <a:latin typeface="Cambria"/>
              </a:rPr>
              <a:t>Exato puro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9202" y="1920240"/>
            <a:ext cx="157962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Modelo MTZ no HiGHS, sem ajuda. Prova o ótimo, mas escala 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0580" y="1463040"/>
            <a:ext cx="190881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05172" y="1627632"/>
            <a:ext cx="91440" cy="9144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8052" y="1554480"/>
            <a:ext cx="1451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2A3B"/>
                </a:solidFill>
                <a:latin typeface="Cambria"/>
              </a:rPr>
              <a:t>Warm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5172" y="1920240"/>
            <a:ext cx="157962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A rota da heurística entra como incumbente (limite primal) na largada.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86550" y="1463040"/>
            <a:ext cx="190881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1142" y="1627632"/>
            <a:ext cx="91440" cy="9144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4022" y="1554480"/>
            <a:ext cx="1451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2A3B"/>
                </a:solidFill>
                <a:latin typeface="Cambria"/>
              </a:rPr>
              <a:t>Híbrido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1142" y="1920240"/>
            <a:ext cx="157962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Warm start, depois fix-and-optimize, depois B&amp;B completo.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8B57"/>
                </a:solidFill>
                <a:latin typeface="Cambria"/>
              </a:rPr>
              <a:t>A partir de que N o exato deixa de fechar o gap? O híbrido empurra esse limite?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Instâncias geradas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Gerador com semente documentada: semente = 2026 +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120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 (cidades)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Semente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Variáveis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Restrições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2046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399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382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2056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899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2066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1.599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1.562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2086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3.599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3.542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2106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6.399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6.322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0" y="137160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08192" y="153619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2A3B"/>
                </a:solidFill>
                <a:latin typeface="Cambria"/>
              </a:rPr>
              <a:t>Como o gerador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828800"/>
            <a:ext cx="232257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Pontos uniformes em [0, 1000]².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Distância EUC_2D inteira, igual à TSPLIB do TP-II.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Variáveis: n² − 1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Restrições: 2n + (n−1)(n−2)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Heurística (adaptada do TP-I)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Constrói, melhora e entrega a rota inicial para o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4993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53619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63040"/>
            <a:ext cx="204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1 · Construção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21701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6"/>
                </a:solidFill>
                <a:latin typeface="Calibri"/>
              </a:rPr>
              <a:t>Vizinho mais próximo, partindo de até 20 cidades iniciais diferentes.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4576" y="2286000"/>
            <a:ext cx="201168" cy="274320"/>
          </a:xfrm>
          <a:prstGeom prst="rightArrow">
            <a:avLst/>
          </a:prstGeom>
          <a:solidFill>
            <a:srgbClr val="5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22320" y="1371600"/>
            <a:ext cx="24993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912" y="153619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792" y="1463040"/>
            <a:ext cx="204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2 · Busca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912" y="1828800"/>
            <a:ext cx="21701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6"/>
                </a:solidFill>
                <a:latin typeface="Calibri"/>
              </a:rPr>
              <a:t>2-opt (troca de duas arestas) e Or-opt (move segmentos de 1 a 3 cidades) até não melhorar.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58256" y="2286000"/>
            <a:ext cx="201168" cy="274320"/>
          </a:xfrm>
          <a:prstGeom prst="rightArrow">
            <a:avLst/>
          </a:prstGeom>
          <a:solidFill>
            <a:srgbClr val="5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0" y="1371600"/>
            <a:ext cx="24993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60592" y="153619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472" y="1463040"/>
            <a:ext cx="204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3 · Seleção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0592" y="1828800"/>
            <a:ext cx="21701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6"/>
                </a:solidFill>
                <a:latin typeface="Calibri"/>
              </a:rPr>
              <a:t>Fica a melhor das rotas. Em todos os N leva menos de 2 s, sem prova de otimalidade.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2A3B"/>
                </a:solidFill>
                <a:latin typeface="Cambria"/>
              </a:rPr>
              <a:t>Papel no trabalho: baseline de comparação e fornecedora do incumbente para o solver.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O híbrido em três fases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Warm start, fix-and-optimize e B&amp;B completo no mesmo orçamento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499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444752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71600"/>
            <a:ext cx="204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A3B"/>
                </a:solidFill>
                <a:latin typeface="Cambria"/>
              </a:rPr>
              <a:t>Fase 1 · Warm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217017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Rota da heurística entra no HiGHS como incumbente (limite primal).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4576" y="2011680"/>
            <a:ext cx="201168" cy="274320"/>
          </a:xfrm>
          <a:prstGeom prst="rightArrow">
            <a:avLst/>
          </a:prstGeom>
          <a:solidFill>
            <a:srgbClr val="5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22320" y="1280160"/>
            <a:ext cx="2499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912" y="1444752"/>
            <a:ext cx="91440" cy="9144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792" y="1371600"/>
            <a:ext cx="204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A3B"/>
                </a:solidFill>
                <a:latin typeface="Cambria"/>
              </a:rPr>
              <a:t>Fase 2 · Fix-and-optimize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912" y="1737360"/>
            <a:ext cx="217017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40% do tempo. Libera a vizinhança de m cidades próximas e fixa o resto na rota atual.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58256" y="2011680"/>
            <a:ext cx="201168" cy="274320"/>
          </a:xfrm>
          <a:prstGeom prst="rightArrow">
            <a:avLst/>
          </a:prstGeom>
          <a:solidFill>
            <a:srgbClr val="5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0" y="1280160"/>
            <a:ext cx="2499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60592" y="1444752"/>
            <a:ext cx="91440" cy="91440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472" y="1371600"/>
            <a:ext cx="204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A3B"/>
                </a:solidFill>
                <a:latin typeface="Cambria"/>
              </a:rPr>
              <a:t>Fase 3 · B&amp;B completo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0592" y="1737360"/>
            <a:ext cx="217017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Tempo restante com o melhor incumbente. Fornece o limite dual e o gap.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91840"/>
            <a:ext cx="8046720" cy="1234440"/>
          </a:xfrm>
          <a:prstGeom prst="roundRect">
            <a:avLst>
              <a:gd name="adj" fmla="val 6000"/>
            </a:avLst>
          </a:prstGeom>
          <a:solidFill>
            <a:srgbClr val="0B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Nossa decisão de projeto: vizinhança espacial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49039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FDDE6"/>
                </a:solidFill>
                <a:latin typeface="Calibri"/>
              </a:rPr>
              <a:t>Cidade-centro sorteada + as m mais próximas. Tamanho m adaptativo: começa em 6, +2 se o sub-MIP fecha sem melhora, −2 se estoura 3 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Como executamos os testes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886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26187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887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2A3B"/>
                </a:solidFill>
                <a:latin typeface="Cambria"/>
              </a:rPr>
              <a:t>Modelagem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35570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B76"/>
                </a:solidFill>
                <a:latin typeface="Calibri"/>
              </a:rPr>
              <a:t>Python + highspy. Modelo MTZ do TP-II, com variáveis binárias e contínuas.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97280"/>
            <a:ext cx="3886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73752" y="126187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11887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2A3B"/>
                </a:solidFill>
                <a:latin typeface="Cambria"/>
              </a:rPr>
              <a:t>Solver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554480"/>
            <a:ext cx="35570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B76"/>
                </a:solidFill>
                <a:latin typeface="Calibri"/>
              </a:rPr>
              <a:t>HiGHS 1.15.1, 1 thread, gap relativo 0, semente fixa.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3886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99923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26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2A3B"/>
                </a:solidFill>
                <a:latin typeface="Cambria"/>
              </a:rPr>
              <a:t>Orçamento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91840"/>
            <a:ext cx="35570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B76"/>
                </a:solidFill>
                <a:latin typeface="Calibri"/>
              </a:rPr>
              <a:t>120 s por abordagem e por N, igual para as quatro.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34640"/>
            <a:ext cx="3886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73752" y="299923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2926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2A3B"/>
                </a:solidFill>
                <a:latin typeface="Cambria"/>
              </a:rPr>
              <a:t>Métricas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91840"/>
            <a:ext cx="35570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B76"/>
                </a:solidFill>
                <a:latin typeface="Calibri"/>
              </a:rPr>
              <a:t>Custo, gap contra o melhor limite inferior conhecido e tempo.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Resultados por tamanho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Custo, gap e tempo; em verde, ótimo provado em 120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805940"/>
                <a:gridCol w="1805940"/>
                <a:gridCol w="1805940"/>
                <a:gridCol w="18059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Heurística pura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Exato puro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Exato + warm start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Híbrido (WS + F&amp;O)</a:t>
                      </a:r>
                    </a:p>
                  </a:txBody>
                  <a:tcPr anchor="ctr">
                    <a:solidFill>
                      <a:srgbClr val="0B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3014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0,0% · 0,0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3014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0,4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3014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0,5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3014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48,6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4233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0,0% · 0,1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4233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2,8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4233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4,8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4233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52,7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4764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0,0% · 0,2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4764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35,2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4764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19,1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4764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59,0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5193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0,0% · 0,3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5193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60,0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5193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17,0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Calibri"/>
                        </a:rPr>
                        <a:t>5193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2E8B57"/>
                          </a:solidFill>
                          <a:latin typeface="Calibri"/>
                        </a:rPr>
                        <a:t>ótimo · 61,1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5863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1,8% · 0,6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6549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12,1% · 120,1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5863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1,8% · 120,0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5863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1,8% · 120,0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3B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6949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6,9% · 1,6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9089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28,8% · 120,1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6949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6,9% · 120,1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2A3B"/>
                          </a:solidFill>
                          <a:latin typeface="Calibri"/>
                        </a:rPr>
                        <a:t>6906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5B6B76"/>
                          </a:solidFill>
                          <a:latin typeface="Calibri"/>
                        </a:rPr>
                        <a:t>gap 6,4% · 120,0 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Gap em função do tamanho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Gap contra o melhor limite inferior conhecido para cada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234440"/>
          <a:ext cx="8046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Tempo em função do tamanho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6"/>
                </a:solidFill>
                <a:latin typeface="Calibri"/>
              </a:rPr>
              <a:t>Escala logarítmica: o exato cresce de forma exponencial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234440"/>
          <a:ext cx="8046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Respostas às perguntas do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39090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216152"/>
            <a:ext cx="91440" cy="91440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43000"/>
            <a:ext cx="3451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Quando o exato deixa de fechar?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35798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6"/>
                </a:solidFill>
                <a:latin typeface="Calibri"/>
              </a:rPr>
              <a:t>Entre N=40 (ótimo em ~60 s) e N=60 (gap de 12% em 120 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6300" y="1051560"/>
            <a:ext cx="39090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50892" y="1216152"/>
            <a:ext cx="91440" cy="9144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3772" y="1143000"/>
            <a:ext cx="3451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O híbrido empurra o limite?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0892" y="1508760"/>
            <a:ext cx="35798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6"/>
                </a:solidFill>
                <a:latin typeface="Calibri"/>
              </a:rPr>
              <a:t>Não para fechar o gap, mas sim a qualidade: gap de 12% para 1,8% em N=60 e de 29% para 6,4% em N=80.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39090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999232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26080"/>
            <a:ext cx="3451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A heurística já basta?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91840"/>
            <a:ext cx="35798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6"/>
                </a:solidFill>
                <a:latin typeface="Calibri"/>
              </a:rPr>
              <a:t>Até N=60 ela iguala o híbrido em menos de 1 s. Em N=80 o híbrido é 0,6% melhor.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6300" y="2834640"/>
            <a:ext cx="39090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50892" y="2999232"/>
            <a:ext cx="91440" cy="9144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3772" y="2926080"/>
            <a:ext cx="3451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A estratégia acelerou o solver?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0892" y="3291840"/>
            <a:ext cx="35798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6"/>
                </a:solidFill>
                <a:latin typeface="Calibri"/>
              </a:rPr>
              <a:t>O warm start sim (N=40: 17 s contra 60 s). O fix-and-optimize quase não fez diferença.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B2A3B"/>
                </a:solidFill>
                <a:latin typeface="Cambria"/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Trabalho Prático III · Heurística + Método Exato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6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261872"/>
            <a:ext cx="91440" cy="914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8872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Warm start compensa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7717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Barato, acelera a prova (N=40: 17 s contra 60 s) e evita soluções ruins quando o tempo acaba.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8046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221992"/>
            <a:ext cx="91440" cy="9144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F&amp;O depende da heurística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14600"/>
            <a:ext cx="7717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Com uma heurística já forte, gastou 40% do orçamento sem ganho até N=60.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8046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3182112"/>
            <a:ext cx="91440" cy="91440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0896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A3B"/>
                </a:solidFill>
                <a:latin typeface="Cambria"/>
              </a:rPr>
              <a:t>O MTZ limita tudo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474720"/>
            <a:ext cx="7717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B76"/>
                </a:solidFill>
                <a:latin typeface="Calibri"/>
              </a:rPr>
              <a:t>A relaxação fraca mantém o limite dual baixo, e nenhum método fecha o gap em N ≥ 60.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B6B76"/>
                </a:solidFill>
                <a:latin typeface="Calibri"/>
              </a:rPr>
              <a:t>Limitações: uma instância por N, uma execução por abordagem, seis processos em paralelo na mesma máquina.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Obrigado! 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FDDE6"/>
                </a:solidFill>
                <a:latin typeface="Calibri"/>
              </a:rPr>
              <a:t>TP3: heurística + método exato (TSP / MTZ)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FDDE6"/>
                </a:solidFill>
                <a:latin typeface="Calibri"/>
              </a:rPr>
              <a:t>Cauã Fortes · Dyogo Henrique · Maycon Luiz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